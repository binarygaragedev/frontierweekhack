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Kliknij, aby przesunąć slajd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&lt;główka&gt;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4F53613-7103-4813-AFCF-58D661F1812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presentation summarizes the ride-hailing solution using four specialized agents for safety, telemetry, operations, and support.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E325FD-2B92-46EE-A6BC-1F3965BC25C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core issue is that safety, operations, and support are connected. One general model is hard to control, so we split responsibilities.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4BC48D8-BB3C-4E88-A948-5BFA7A5D1D3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separation gives us better control and makes every decision point measurable and explainable.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0B92B5C-C164-4CF3-88E2-A5AD815DBC2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main production flow: pre-trip risk scoring, live telemetry checks, in-trip anomaly handling, and structured support outcomes.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34ED0D-3AB1-497B-9740-2CD70727DF2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this scenario, telemetry confirms risky behavior, operations intervenes, and support finalizes a policy-aligned case outcome.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1442499-AF0C-4862-9B66-A36C72213D8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what turns a demo into a deployable system: monitoring, evaluation discipline, and operational safeguards.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07FE8C0-2962-4584-821F-34934ECD842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summary, the solution combines AI specialization with operational safety and production controls to improve both trust and performance.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D533F5-8CA2-4EA4-B353-9E832CDD5FB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12BC42-AF90-4E1A-A3FC-E3095251DA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3250D5-CB10-49EF-B50C-44EA58738C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552CBF-6AF5-4F51-87D6-96747651F4B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80C144-5AED-4ABC-88A0-8118BC1E4B4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DE904A-40D1-4A0C-821E-75C7ABDC9F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89FE40-A7CF-4496-92DC-CE0C38730D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BDFF79-338F-4DDD-9E6F-5426BFC5AC7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DB1DCF-6357-4CF4-89AF-D4D2EE7A83A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027BA6-11EA-4341-AE6F-A40995D878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605F13-BD3B-4BDC-B92B-44215C1F84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&lt;data/godzina&gt;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FC1C33-969C-4990-A6D3-7A018C63115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0b1e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Oval 2"/>
          <p:cNvSpPr/>
          <p:nvPr/>
        </p:nvSpPr>
        <p:spPr>
          <a:xfrm>
            <a:off x="9875520" y="-640080"/>
            <a:ext cx="2925720" cy="29257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Oval 3"/>
          <p:cNvSpPr/>
          <p:nvPr/>
        </p:nvSpPr>
        <p:spPr>
          <a:xfrm>
            <a:off x="-548640" y="5394960"/>
            <a:ext cx="2377080" cy="2377080"/>
          </a:xfrm>
          <a:prstGeom prst="ellipse">
            <a:avLst/>
          </a:prstGeom>
          <a:solidFill>
            <a:srgbClr val="d2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ounded Rectangle 4"/>
          <p:cNvSpPr/>
          <p:nvPr/>
        </p:nvSpPr>
        <p:spPr>
          <a:xfrm>
            <a:off x="822960" y="1325880"/>
            <a:ext cx="106066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e3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1188720" y="1920240"/>
            <a:ext cx="8888760" cy="11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Multi-Agent AI for Ride-Hailing Safety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1234440" y="4251960"/>
            <a:ext cx="2358720" cy="621360"/>
          </a:xfrm>
          <a:prstGeom prst="roundRect">
            <a:avLst>
              <a:gd name="adj" fmla="val 16667"/>
            </a:avLst>
          </a:prstGeom>
          <a:solidFill>
            <a:srgbClr val="f0f6fc"/>
          </a:solidFill>
          <a:ln>
            <a:solidFill>
              <a:srgbClr val="d0dd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Safety &amp; Risk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3749040" y="4251960"/>
            <a:ext cx="2358720" cy="621360"/>
          </a:xfrm>
          <a:prstGeom prst="roundRect">
            <a:avLst>
              <a:gd name="adj" fmla="val 16667"/>
            </a:avLst>
          </a:prstGeom>
          <a:solidFill>
            <a:srgbClr val="f0f6fc"/>
          </a:solidFill>
          <a:ln>
            <a:solidFill>
              <a:srgbClr val="d0dd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OBD Telemetry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6263640" y="4251960"/>
            <a:ext cx="2358720" cy="621360"/>
          </a:xfrm>
          <a:prstGeom prst="roundRect">
            <a:avLst>
              <a:gd name="adj" fmla="val 16667"/>
            </a:avLst>
          </a:prstGeom>
          <a:solidFill>
            <a:srgbClr val="f0f6fc"/>
          </a:solidFill>
          <a:ln>
            <a:solidFill>
              <a:srgbClr val="d0dd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Trip Operations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9"/>
          <p:cNvSpPr/>
          <p:nvPr/>
        </p:nvSpPr>
        <p:spPr>
          <a:xfrm>
            <a:off x="8778240" y="4251960"/>
            <a:ext cx="2358720" cy="621360"/>
          </a:xfrm>
          <a:prstGeom prst="roundRect">
            <a:avLst>
              <a:gd name="adj" fmla="val 16667"/>
            </a:avLst>
          </a:prstGeom>
          <a:solidFill>
            <a:srgbClr val="f0f6fc"/>
          </a:solidFill>
          <a:ln>
            <a:solidFill>
              <a:srgbClr val="d0dd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Incident Resolution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0b1e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Oval 2"/>
          <p:cNvSpPr/>
          <p:nvPr/>
        </p:nvSpPr>
        <p:spPr>
          <a:xfrm>
            <a:off x="9875520" y="-640080"/>
            <a:ext cx="2925720" cy="2925720"/>
          </a:xfrm>
          <a:prstGeom prst="ellipse">
            <a:avLst/>
          </a:prstGeom>
          <a:solidFill>
            <a:srgbClr val="008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Oval 3"/>
          <p:cNvSpPr/>
          <p:nvPr/>
        </p:nvSpPr>
        <p:spPr>
          <a:xfrm>
            <a:off x="-548640" y="5394960"/>
            <a:ext cx="2377080" cy="2377080"/>
          </a:xfrm>
          <a:prstGeom prst="ellipse">
            <a:avLst/>
          </a:prstGeom>
          <a:solidFill>
            <a:srgbClr val="d2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40080" y="71316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Business Problem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658440" y="14173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Ride-hailing safety and trust need real-time, policy-aligned decisions.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6"/>
          <p:cNvSpPr/>
          <p:nvPr/>
        </p:nvSpPr>
        <p:spPr>
          <a:xfrm>
            <a:off x="731520" y="1828800"/>
            <a:ext cx="548604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e2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960120" y="199332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Key Challenges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960120" y="2560320"/>
            <a:ext cx="50745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Safety incidents can happen suddenly during trips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GPS-only signals miss dangerous driving patterns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Support teams need fast and traceable escalation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Fraud, disputes, and policy consistency must be managed together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9"/>
          <p:cNvSpPr/>
          <p:nvPr/>
        </p:nvSpPr>
        <p:spPr>
          <a:xfrm>
            <a:off x="6035040" y="1828800"/>
            <a:ext cx="539460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e2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6263640" y="199332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Why Single Agent Fails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6263640" y="2560320"/>
            <a:ext cx="49831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Too broad to optimize for high-risk decisions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Harder to audit and debug errors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Weak separation between safety and support logic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Lower reliability under live operational pressure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0b1e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Oval 2"/>
          <p:cNvSpPr/>
          <p:nvPr/>
        </p:nvSpPr>
        <p:spPr>
          <a:xfrm>
            <a:off x="9875520" y="-640080"/>
            <a:ext cx="2925720" cy="29257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Oval 3"/>
          <p:cNvSpPr/>
          <p:nvPr/>
        </p:nvSpPr>
        <p:spPr>
          <a:xfrm>
            <a:off x="-548640" y="5394960"/>
            <a:ext cx="2377080" cy="2377080"/>
          </a:xfrm>
          <a:prstGeom prst="ellipse">
            <a:avLst/>
          </a:prstGeom>
          <a:solidFill>
            <a:srgbClr val="d2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640080" y="71316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Four Specialized Agents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658440" y="14173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Each agent has clear tools, decisions, and escalation behavior.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6"/>
          <p:cNvSpPr/>
          <p:nvPr/>
        </p:nvSpPr>
        <p:spPr>
          <a:xfrm>
            <a:off x="731520" y="182880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3e0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960120" y="205740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1. Safety Risk Agent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Profiles, route risk, pre-checks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8"/>
          <p:cNvSpPr/>
          <p:nvPr/>
        </p:nvSpPr>
        <p:spPr>
          <a:xfrm>
            <a:off x="6217920" y="182880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3e0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6446520" y="205740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2. Telemetry Agent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OBD speed, RPM, braking anomalies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0"/>
          <p:cNvSpPr/>
          <p:nvPr/>
        </p:nvSpPr>
        <p:spPr>
          <a:xfrm>
            <a:off x="731520" y="397764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3e0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960120" y="420624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3. Operations Agent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Detours, idle periods, trip monitoring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2"/>
          <p:cNvSpPr/>
          <p:nvPr/>
        </p:nvSpPr>
        <p:spPr>
          <a:xfrm>
            <a:off x="6217920" y="3977640"/>
            <a:ext cx="521172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3e0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6446520" y="4206240"/>
            <a:ext cx="4754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4. Support Agent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Complaints, policy checks, resolution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0b1e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Oval 2"/>
          <p:cNvSpPr/>
          <p:nvPr/>
        </p:nvSpPr>
        <p:spPr>
          <a:xfrm>
            <a:off x="9875520" y="-640080"/>
            <a:ext cx="2925720" cy="2925720"/>
          </a:xfrm>
          <a:prstGeom prst="ellipse">
            <a:avLst/>
          </a:prstGeom>
          <a:solidFill>
            <a:srgbClr val="008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Oval 3"/>
          <p:cNvSpPr/>
          <p:nvPr/>
        </p:nvSpPr>
        <p:spPr>
          <a:xfrm>
            <a:off x="-548640" y="5394960"/>
            <a:ext cx="2377080" cy="2377080"/>
          </a:xfrm>
          <a:prstGeom prst="ellipse">
            <a:avLst/>
          </a:prstGeom>
          <a:solidFill>
            <a:srgbClr val="d2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640080" y="71316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End-to-End Flow Diagram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658440" y="14173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Derived directly from section 5 in solution.md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6"/>
          <p:cNvSpPr/>
          <p:nvPr/>
        </p:nvSpPr>
        <p:spPr>
          <a:xfrm>
            <a:off x="502920" y="2331720"/>
            <a:ext cx="1828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8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Trip Request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ight Arrow 7"/>
          <p:cNvSpPr/>
          <p:nvPr/>
        </p:nvSpPr>
        <p:spPr>
          <a:xfrm>
            <a:off x="2331720" y="2761560"/>
            <a:ext cx="182520" cy="47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499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ounded Rectangle 8"/>
          <p:cNvSpPr/>
          <p:nvPr/>
        </p:nvSpPr>
        <p:spPr>
          <a:xfrm>
            <a:off x="2514600" y="2331720"/>
            <a:ext cx="1828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a89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Safety Risk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Assessment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ight Arrow 9"/>
          <p:cNvSpPr/>
          <p:nvPr/>
        </p:nvSpPr>
        <p:spPr>
          <a:xfrm>
            <a:off x="4343400" y="2761560"/>
            <a:ext cx="182520" cy="47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499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10"/>
          <p:cNvSpPr/>
          <p:nvPr/>
        </p:nvSpPr>
        <p:spPr>
          <a:xfrm>
            <a:off x="4526280" y="2331720"/>
            <a:ext cx="1828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8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OBD Telemetry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Monitoring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ight Arrow 11"/>
          <p:cNvSpPr/>
          <p:nvPr/>
        </p:nvSpPr>
        <p:spPr>
          <a:xfrm>
            <a:off x="6355080" y="2761560"/>
            <a:ext cx="182520" cy="47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499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12"/>
          <p:cNvSpPr/>
          <p:nvPr/>
        </p:nvSpPr>
        <p:spPr>
          <a:xfrm>
            <a:off x="6537960" y="2331720"/>
            <a:ext cx="1828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a89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In-Trip Ops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Monitoring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ight Arrow 13"/>
          <p:cNvSpPr/>
          <p:nvPr/>
        </p:nvSpPr>
        <p:spPr>
          <a:xfrm>
            <a:off x="8366760" y="2761560"/>
            <a:ext cx="182520" cy="47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499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ounded Rectangle 14"/>
          <p:cNvSpPr/>
          <p:nvPr/>
        </p:nvSpPr>
        <p:spPr>
          <a:xfrm>
            <a:off x="8549640" y="2331720"/>
            <a:ext cx="1828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8c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Support &amp;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Resolution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ight Arrow 15"/>
          <p:cNvSpPr/>
          <p:nvPr/>
        </p:nvSpPr>
        <p:spPr>
          <a:xfrm>
            <a:off x="10378440" y="2761560"/>
            <a:ext cx="182520" cy="47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499b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ounded Rectangle 16"/>
          <p:cNvSpPr/>
          <p:nvPr/>
        </p:nvSpPr>
        <p:spPr>
          <a:xfrm>
            <a:off x="10561320" y="2331720"/>
            <a:ext cx="182844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a89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Business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Outcome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777240" y="3977640"/>
            <a:ext cx="107895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Safety is checked before acceptance, monitored in real time, then resolved through policy-grounded support.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0b1e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2"/>
          <p:cNvSpPr/>
          <p:nvPr/>
        </p:nvSpPr>
        <p:spPr>
          <a:xfrm>
            <a:off x="9875520" y="-640080"/>
            <a:ext cx="2925720" cy="2925720"/>
          </a:xfrm>
          <a:prstGeom prst="ellipse">
            <a:avLst/>
          </a:prstGeom>
          <a:solidFill>
            <a:srgbClr val="f5a7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Oval 3"/>
          <p:cNvSpPr/>
          <p:nvPr/>
        </p:nvSpPr>
        <p:spPr>
          <a:xfrm>
            <a:off x="-548640" y="5394960"/>
            <a:ext cx="2377080" cy="2377080"/>
          </a:xfrm>
          <a:prstGeom prst="ellipse">
            <a:avLst/>
          </a:prstGeom>
          <a:solidFill>
            <a:srgbClr val="d2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640080" y="71316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Escalation Scenario Flow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658440" y="14173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Based on the suspicious trip example in solution.md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685800" y="1828800"/>
            <a:ext cx="10972440" cy="785880"/>
          </a:xfrm>
          <a:prstGeom prst="roundRect">
            <a:avLst>
              <a:gd name="adj" fmla="val 16667"/>
            </a:avLst>
          </a:prstGeom>
          <a:solidFill>
            <a:srgbClr val="e9f5ff"/>
          </a:solidFill>
          <a:ln>
            <a:solidFill>
              <a:srgbClr val="d1db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868680" y="20116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Passenger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685800" y="2670120"/>
            <a:ext cx="10972440" cy="785880"/>
          </a:xfrm>
          <a:prstGeom prst="roundRect">
            <a:avLst>
              <a:gd name="adj" fmla="val 16667"/>
            </a:avLst>
          </a:prstGeom>
          <a:solidFill>
            <a:srgbClr val="e4fcf7"/>
          </a:solidFill>
          <a:ln>
            <a:solidFill>
              <a:srgbClr val="d1db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868680" y="28530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Safety Agent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0"/>
          <p:cNvSpPr/>
          <p:nvPr/>
        </p:nvSpPr>
        <p:spPr>
          <a:xfrm>
            <a:off x="685800" y="3511440"/>
            <a:ext cx="10972440" cy="785880"/>
          </a:xfrm>
          <a:prstGeom prst="roundRect">
            <a:avLst>
              <a:gd name="adj" fmla="val 16667"/>
            </a:avLst>
          </a:prstGeom>
          <a:solidFill>
            <a:srgbClr val="fff5e3"/>
          </a:solidFill>
          <a:ln>
            <a:solidFill>
              <a:srgbClr val="d1db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868680" y="369432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Telemetry Agent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685800" y="4352400"/>
            <a:ext cx="10972440" cy="785880"/>
          </a:xfrm>
          <a:prstGeom prst="roundRect">
            <a:avLst>
              <a:gd name="adj" fmla="val 16667"/>
            </a:avLst>
          </a:prstGeom>
          <a:solidFill>
            <a:srgbClr val="f5eeff"/>
          </a:solidFill>
          <a:ln>
            <a:solidFill>
              <a:srgbClr val="d1db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13"/>
          <p:cNvSpPr/>
          <p:nvPr/>
        </p:nvSpPr>
        <p:spPr>
          <a:xfrm>
            <a:off x="868680" y="45352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Operations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4"/>
          <p:cNvSpPr/>
          <p:nvPr/>
        </p:nvSpPr>
        <p:spPr>
          <a:xfrm>
            <a:off x="685800" y="5193720"/>
            <a:ext cx="10972440" cy="785880"/>
          </a:xfrm>
          <a:prstGeom prst="roundRect">
            <a:avLst>
              <a:gd name="adj" fmla="val 16667"/>
            </a:avLst>
          </a:prstGeom>
          <a:solidFill>
            <a:srgbClr val="ffecf0"/>
          </a:solidFill>
          <a:ln>
            <a:solidFill>
              <a:srgbClr val="d1db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868680" y="53766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Support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Chevron 16"/>
          <p:cNvSpPr/>
          <p:nvPr/>
        </p:nvSpPr>
        <p:spPr>
          <a:xfrm>
            <a:off x="2743200" y="1892880"/>
            <a:ext cx="1508400" cy="6580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5a7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Late-night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request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Down Arrow 17"/>
          <p:cNvSpPr/>
          <p:nvPr/>
        </p:nvSpPr>
        <p:spPr>
          <a:xfrm>
            <a:off x="3931920" y="2578680"/>
            <a:ext cx="2192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5b2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Chevron 18"/>
          <p:cNvSpPr/>
          <p:nvPr/>
        </p:nvSpPr>
        <p:spPr>
          <a:xfrm>
            <a:off x="4297680" y="2734200"/>
            <a:ext cx="1508400" cy="6580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5a7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High route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risk score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Down Arrow 19"/>
          <p:cNvSpPr/>
          <p:nvPr/>
        </p:nvSpPr>
        <p:spPr>
          <a:xfrm>
            <a:off x="5486400" y="3420000"/>
            <a:ext cx="2192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5b2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Chevron 20"/>
          <p:cNvSpPr/>
          <p:nvPr/>
        </p:nvSpPr>
        <p:spPr>
          <a:xfrm>
            <a:off x="5897880" y="3575160"/>
            <a:ext cx="1508400" cy="6580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5a7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Harsh braking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+ speeding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Down Arrow 21"/>
          <p:cNvSpPr/>
          <p:nvPr/>
        </p:nvSpPr>
        <p:spPr>
          <a:xfrm>
            <a:off x="7086600" y="4260960"/>
            <a:ext cx="2192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5b2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Chevron 22"/>
          <p:cNvSpPr/>
          <p:nvPr/>
        </p:nvSpPr>
        <p:spPr>
          <a:xfrm>
            <a:off x="7498080" y="4416480"/>
            <a:ext cx="1508400" cy="6580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5a7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Manual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intervention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Down Arrow 23"/>
          <p:cNvSpPr/>
          <p:nvPr/>
        </p:nvSpPr>
        <p:spPr>
          <a:xfrm>
            <a:off x="8686800" y="5102280"/>
            <a:ext cx="219240" cy="219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a5b2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Chevron 24"/>
          <p:cNvSpPr/>
          <p:nvPr/>
        </p:nvSpPr>
        <p:spPr>
          <a:xfrm>
            <a:off x="9098280" y="5257800"/>
            <a:ext cx="1508400" cy="65808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5a74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Case review</a:t>
            </a:r>
            <a:br>
              <a:rPr sz="1800"/>
            </a:b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+ resolution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0b1e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Oval 2"/>
          <p:cNvSpPr/>
          <p:nvPr/>
        </p:nvSpPr>
        <p:spPr>
          <a:xfrm>
            <a:off x="9875520" y="-640080"/>
            <a:ext cx="2925720" cy="2925720"/>
          </a:xfrm>
          <a:prstGeom prst="ellipse">
            <a:avLst/>
          </a:prstGeom>
          <a:solidFill>
            <a:srgbClr val="00a89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Oval 3"/>
          <p:cNvSpPr/>
          <p:nvPr/>
        </p:nvSpPr>
        <p:spPr>
          <a:xfrm>
            <a:off x="-548640" y="5394960"/>
            <a:ext cx="2377080" cy="2377080"/>
          </a:xfrm>
          <a:prstGeom prst="ellipse">
            <a:avLst/>
          </a:prstGeom>
          <a:solidFill>
            <a:srgbClr val="d2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4"/>
          <p:cNvSpPr/>
          <p:nvPr/>
        </p:nvSpPr>
        <p:spPr>
          <a:xfrm>
            <a:off x="640080" y="713160"/>
            <a:ext cx="10972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Production Readiness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658440" y="14173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Observability, evaluation, and safety controls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6"/>
          <p:cNvSpPr/>
          <p:nvPr/>
        </p:nvSpPr>
        <p:spPr>
          <a:xfrm>
            <a:off x="731520" y="1828800"/>
            <a:ext cx="365724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e2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7"/>
          <p:cNvSpPr/>
          <p:nvPr/>
        </p:nvSpPr>
        <p:spPr>
          <a:xfrm>
            <a:off x="960120" y="199332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Observability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8"/>
          <p:cNvSpPr/>
          <p:nvPr/>
        </p:nvSpPr>
        <p:spPr>
          <a:xfrm>
            <a:off x="960120" y="2560320"/>
            <a:ext cx="32457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Trace every agent call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Monitor latency and cost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Track anomalies and escalations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9"/>
          <p:cNvSpPr/>
          <p:nvPr/>
        </p:nvSpPr>
        <p:spPr>
          <a:xfrm>
            <a:off x="4526280" y="1828800"/>
            <a:ext cx="365724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e2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10"/>
          <p:cNvSpPr/>
          <p:nvPr/>
        </p:nvSpPr>
        <p:spPr>
          <a:xfrm>
            <a:off x="4754880" y="1993320"/>
            <a:ext cx="3200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Evaluation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1"/>
          <p:cNvSpPr/>
          <p:nvPr/>
        </p:nvSpPr>
        <p:spPr>
          <a:xfrm>
            <a:off x="4754880" y="2560320"/>
            <a:ext cx="32457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Use scenario-rich test datasets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Measure safety and groundedness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Run checks before every release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2"/>
          <p:cNvSpPr/>
          <p:nvPr/>
        </p:nvSpPr>
        <p:spPr>
          <a:xfrm>
            <a:off x="8321040" y="1828800"/>
            <a:ext cx="3611520" cy="448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e2e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3"/>
          <p:cNvSpPr/>
          <p:nvPr/>
        </p:nvSpPr>
        <p:spPr>
          <a:xfrm>
            <a:off x="8549640" y="1993320"/>
            <a:ext cx="3154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Controls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4"/>
          <p:cNvSpPr/>
          <p:nvPr/>
        </p:nvSpPr>
        <p:spPr>
          <a:xfrm>
            <a:off x="8549640" y="2560320"/>
            <a:ext cx="320004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Policy-grounded actions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Human review for critical cases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600" strike="noStrike" u="none">
                <a:solidFill>
                  <a:srgbClr val="1e232e"/>
                </a:solidFill>
                <a:effectLst/>
                <a:uFillTx/>
                <a:latin typeface="Calibri"/>
              </a:rPr>
              <a:t>- Audit logs for key decisions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0" y="0"/>
            <a:ext cx="12191400" cy="529920"/>
          </a:xfrm>
          <a:prstGeom prst="rect">
            <a:avLst/>
          </a:prstGeom>
          <a:solidFill>
            <a:srgbClr val="0b1e3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Oval 2"/>
          <p:cNvSpPr/>
          <p:nvPr/>
        </p:nvSpPr>
        <p:spPr>
          <a:xfrm>
            <a:off x="9875520" y="-640080"/>
            <a:ext cx="2925720" cy="2925720"/>
          </a:xfrm>
          <a:prstGeom prst="ellipse">
            <a:avLst/>
          </a:prstGeom>
          <a:solidFill>
            <a:srgbClr val="008c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Oval 3"/>
          <p:cNvSpPr/>
          <p:nvPr/>
        </p:nvSpPr>
        <p:spPr>
          <a:xfrm>
            <a:off x="-548640" y="5394960"/>
            <a:ext cx="2377080" cy="2377080"/>
          </a:xfrm>
          <a:prstGeom prst="ellipse">
            <a:avLst/>
          </a:prstGeom>
          <a:solidFill>
            <a:srgbClr val="d2e4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ounded Rectangle 4"/>
          <p:cNvSpPr/>
          <p:nvPr/>
        </p:nvSpPr>
        <p:spPr>
          <a:xfrm>
            <a:off x="1097280" y="1554480"/>
            <a:ext cx="9966600" cy="411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8e4f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1417320" y="2011680"/>
            <a:ext cx="92350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trike="noStrike" u="none">
                <a:solidFill>
                  <a:srgbClr val="0b1e36"/>
                </a:solidFill>
                <a:effectLst/>
                <a:uFillTx/>
                <a:latin typeface="Calibri"/>
              </a:rPr>
              <a:t>Outcome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008caa"/>
                </a:solidFill>
                <a:effectLst/>
                <a:uFillTx/>
                <a:latin typeface="Calibri"/>
              </a:rPr>
              <a:t>Safer trips, faster intervention, and trusted support decisions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53627a"/>
                </a:solidFill>
                <a:effectLst/>
                <a:uFillTx/>
                <a:latin typeface="Calibri"/>
              </a:rPr>
              <a:t>Multi-agent architecture makes the platform explainable, scalable, and production-ready.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</TotalTime>
  <Application>LibreOffice/25.2.5.2$Windows_X86_64 LibreOffice_project/03d19516eb2e1dd5d4ccd751a0d6f35f35e08022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2026-09-16T21:03:32Z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